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6" r:id="rId1"/>
  </p:sldMasterIdLst>
  <p:notesMasterIdLst>
    <p:notesMasterId r:id="rId47"/>
  </p:notesMasterIdLst>
  <p:sldIdLst>
    <p:sldId id="355" r:id="rId2"/>
    <p:sldId id="376" r:id="rId3"/>
    <p:sldId id="277" r:id="rId4"/>
    <p:sldId id="354" r:id="rId5"/>
    <p:sldId id="350" r:id="rId6"/>
    <p:sldId id="351" r:id="rId7"/>
    <p:sldId id="353" r:id="rId8"/>
    <p:sldId id="281" r:id="rId9"/>
    <p:sldId id="282" r:id="rId10"/>
    <p:sldId id="283" r:id="rId11"/>
    <p:sldId id="344" r:id="rId12"/>
    <p:sldId id="345" r:id="rId13"/>
    <p:sldId id="346" r:id="rId14"/>
    <p:sldId id="347" r:id="rId15"/>
    <p:sldId id="348" r:id="rId16"/>
    <p:sldId id="349" r:id="rId17"/>
    <p:sldId id="284" r:id="rId18"/>
    <p:sldId id="305" r:id="rId19"/>
    <p:sldId id="304" r:id="rId20"/>
    <p:sldId id="306" r:id="rId21"/>
    <p:sldId id="262" r:id="rId22"/>
    <p:sldId id="362" r:id="rId23"/>
    <p:sldId id="309" r:id="rId24"/>
    <p:sldId id="311" r:id="rId25"/>
    <p:sldId id="358" r:id="rId26"/>
    <p:sldId id="363" r:id="rId27"/>
    <p:sldId id="356" r:id="rId28"/>
    <p:sldId id="364" r:id="rId29"/>
    <p:sldId id="367" r:id="rId30"/>
    <p:sldId id="315" r:id="rId31"/>
    <p:sldId id="316" r:id="rId32"/>
    <p:sldId id="341" r:id="rId33"/>
    <p:sldId id="342" r:id="rId34"/>
    <p:sldId id="336" r:id="rId35"/>
    <p:sldId id="337" r:id="rId36"/>
    <p:sldId id="338" r:id="rId37"/>
    <p:sldId id="328" r:id="rId38"/>
    <p:sldId id="329" r:id="rId39"/>
    <p:sldId id="330" r:id="rId40"/>
    <p:sldId id="331" r:id="rId41"/>
    <p:sldId id="339" r:id="rId42"/>
    <p:sldId id="333" r:id="rId43"/>
    <p:sldId id="366" r:id="rId44"/>
    <p:sldId id="370" r:id="rId45"/>
    <p:sldId id="38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6ABD3-671A-4482-B123-554543AC345D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22CC2-2FD9-423D-AD88-FF1379F92F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51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5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90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85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46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01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32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57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48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25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28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4B2AE8A-BAD3-4FC3-A44A-85D4542684E8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Lecture 01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1FF-354F-4ABD-9A10-312275F5E83A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AB6D-5489-4085-9894-DAB421B779E5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05B9C-FDF5-41DD-A457-87053D2928B3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0791-49EE-4CE3-81A8-E3ECE33CB2F7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6BCD-5073-4F01-A82E-7EA40E9CE743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1219-59AF-4053-95D2-2802CD471732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5E2EF6A-5616-4764-9203-545262280FC8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8C05C4E-A81C-4532-B03A-341AA67AF98D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Lecture 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947DD-93AC-4EA3-9516-D67237054EA8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95404-32FD-4E58-96FC-8C1A80B9B818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453ADDA-516E-4208-B8FC-623BA9EC7C8D}" type="datetime1">
              <a:rPr lang="en-US" smtClean="0"/>
              <a:pPr/>
              <a:t>8/16/2026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Lecture 01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>
                <a:effectLst/>
              </a:rPr>
              <a:t>EE-2003 Computer Organization and Assembly Language</a:t>
            </a:r>
            <a:br>
              <a:rPr lang="en-US" dirty="0"/>
            </a:br>
            <a:r>
              <a:rPr lang="en-US" dirty="0"/>
              <a:t>Fall 2026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Course Instructor : Dr. Maqsood M. Khan</a:t>
            </a:r>
          </a:p>
          <a:p>
            <a:endParaRPr lang="en-US" dirty="0"/>
          </a:p>
          <a:p>
            <a:r>
              <a:rPr lang="en-US" sz="1900" dirty="0"/>
              <a:t>Department of Computer Science/Software Engineering/Artificial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7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9F73F-1A6D-AE60-B5B1-1060F980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95EC68-239F-1D48-C6DB-BAFAC5DE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Course Matters</a:t>
            </a:r>
          </a:p>
        </p:txBody>
      </p:sp>
      <p:sp>
        <p:nvSpPr>
          <p:cNvPr id="201" name="Card 201"/>
          <p:cNvSpPr/>
          <p:nvPr/>
        </p:nvSpPr>
        <p:spPr>
          <a:xfrm>
            <a:off x="609600" y="1549400"/>
            <a:ext cx="3810000" cy="1854200"/>
          </a:xfrm>
          <a:prstGeom prst="roundRect">
            <a:avLst/>
          </a:prstGeom>
          <a:solidFill>
            <a:srgbClr val="F4E7ED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 lang="en-US"/>
          </a:p>
        </p:txBody>
      </p:sp>
      <p:sp>
        <p:nvSpPr>
          <p:cNvPr id="202" name="Card 202"/>
          <p:cNvSpPr/>
          <p:nvPr/>
        </p:nvSpPr>
        <p:spPr>
          <a:xfrm>
            <a:off x="1422400" y="1701800"/>
            <a:ext cx="28448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8E2B4E"/>
                </a:solidFill>
              </a:rPr>
              <a:t>Computer Science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</a:rPr>
              <a:t>Your algorithms only run fast if you know what the machine underneath is doing.</a:t>
            </a:r>
          </a:p>
        </p:txBody>
      </p:sp>
      <p:sp>
        <p:nvSpPr>
          <p:cNvPr id="203" name="Card 203"/>
          <p:cNvSpPr/>
          <p:nvPr/>
        </p:nvSpPr>
        <p:spPr>
          <a:xfrm>
            <a:off x="4724400" y="1549400"/>
            <a:ext cx="3810000" cy="1854200"/>
          </a:xfrm>
          <a:prstGeom prst="roundRect">
            <a:avLst/>
          </a:prstGeom>
          <a:solidFill>
            <a:srgbClr val="F4E7ED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 lang="en-US"/>
          </a:p>
        </p:txBody>
      </p:sp>
      <p:sp>
        <p:nvSpPr>
          <p:cNvPr id="204" name="Card 204"/>
          <p:cNvSpPr/>
          <p:nvPr/>
        </p:nvSpPr>
        <p:spPr>
          <a:xfrm>
            <a:off x="5537200" y="1701800"/>
            <a:ext cx="28448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8E2B4E"/>
                </a:solidFill>
              </a:rPr>
              <a:t>Computer Engineering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</a:rPr>
              <a:t>Buses, registers and memory maps are the hardware you will design and debug.</a:t>
            </a:r>
          </a:p>
        </p:txBody>
      </p:sp>
      <p:sp>
        <p:nvSpPr>
          <p:cNvPr id="205" name="Card 205"/>
          <p:cNvSpPr/>
          <p:nvPr/>
        </p:nvSpPr>
        <p:spPr>
          <a:xfrm>
            <a:off x="609600" y="3606800"/>
            <a:ext cx="3810000" cy="1854200"/>
          </a:xfrm>
          <a:prstGeom prst="roundRect">
            <a:avLst/>
          </a:prstGeom>
          <a:solidFill>
            <a:srgbClr val="F4E7ED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 lang="en-US"/>
          </a:p>
        </p:txBody>
      </p:sp>
      <p:sp>
        <p:nvSpPr>
          <p:cNvPr id="206" name="Card 206"/>
          <p:cNvSpPr/>
          <p:nvPr/>
        </p:nvSpPr>
        <p:spPr>
          <a:xfrm>
            <a:off x="1422400" y="3759200"/>
            <a:ext cx="28448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8E2B4E"/>
                </a:solidFill>
              </a:rPr>
              <a:t>Software Engineering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</a:rPr>
              <a:t>Performance and memory bugs live below the language you write in.</a:t>
            </a:r>
          </a:p>
        </p:txBody>
      </p:sp>
      <p:sp>
        <p:nvSpPr>
          <p:cNvPr id="207" name="Card 207"/>
          <p:cNvSpPr/>
          <p:nvPr/>
        </p:nvSpPr>
        <p:spPr>
          <a:xfrm>
            <a:off x="4724400" y="3606800"/>
            <a:ext cx="3810000" cy="1854200"/>
          </a:xfrm>
          <a:prstGeom prst="roundRect">
            <a:avLst/>
          </a:prstGeom>
          <a:solidFill>
            <a:srgbClr val="F4E7ED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 lang="en-US"/>
          </a:p>
        </p:txBody>
      </p:sp>
      <p:sp>
        <p:nvSpPr>
          <p:cNvPr id="208" name="Card 208"/>
          <p:cNvSpPr/>
          <p:nvPr/>
        </p:nvSpPr>
        <p:spPr>
          <a:xfrm>
            <a:off x="5537200" y="3759200"/>
            <a:ext cx="28448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8E2B4E"/>
                </a:solidFill>
              </a:rPr>
              <a:t>Artificial Intelligence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</a:rPr>
              <a:t>AI speed is a memory-bandwidth problem: caches, precision and data movement.</a:t>
            </a:r>
          </a:p>
        </p:txBody>
      </p:sp>
      <p:sp>
        <p:nvSpPr>
          <p:cNvPr id="209" name="Card 209"/>
          <p:cNvSpPr/>
          <p:nvPr/>
        </p:nvSpPr>
        <p:spPr>
          <a:xfrm>
            <a:off x="609600" y="5689600"/>
            <a:ext cx="7924800" cy="711200"/>
          </a:xfrm>
          <a:prstGeom prst="roundRect">
            <a:avLst/>
          </a:prstGeom>
          <a:solidFill>
            <a:srgbClr val="B83D6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Compilers, operating systems and ML frameworks are all built on this layer.</a:t>
            </a:r>
          </a:p>
        </p:txBody>
      </p:sp>
      <p:pic>
        <p:nvPicPr>
          <p:cNvPr id="210" name="Graphic 210" descr="Computer Sci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" y="1778000"/>
            <a:ext cx="508000" cy="508000"/>
          </a:xfrm>
          <a:prstGeom prst="rect">
            <a:avLst/>
          </a:prstGeom>
        </p:spPr>
      </p:pic>
      <p:pic>
        <p:nvPicPr>
          <p:cNvPr id="211" name="Graphic 211" descr="Computer Enginee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2200" y="1778000"/>
            <a:ext cx="508000" cy="508000"/>
          </a:xfrm>
          <a:prstGeom prst="rect">
            <a:avLst/>
          </a:prstGeom>
        </p:spPr>
      </p:pic>
      <p:pic>
        <p:nvPicPr>
          <p:cNvPr id="212" name="Graphic 212" descr="Software Enginee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" y="3835400"/>
            <a:ext cx="508000" cy="508000"/>
          </a:xfrm>
          <a:prstGeom prst="rect">
            <a:avLst/>
          </a:prstGeom>
        </p:spPr>
      </p:pic>
      <p:pic>
        <p:nvPicPr>
          <p:cNvPr id="213" name="Graphic 213" descr="Artificial Intellig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200" y="38354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4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Text and Reference Books</a:t>
            </a:r>
          </a:p>
          <a:p>
            <a:pPr lvl="1"/>
            <a:r>
              <a:rPr lang="en-US" dirty="0"/>
              <a:t>Course Outline available on Google Class Room</a:t>
            </a:r>
          </a:p>
          <a:p>
            <a:r>
              <a:rPr lang="en-US" dirty="0"/>
              <a:t>Course Objectives and outcomes</a:t>
            </a:r>
          </a:p>
          <a:p>
            <a:pPr lvl="1"/>
            <a:r>
              <a:rPr lang="en-US" dirty="0"/>
              <a:t>Available on Google Class Room</a:t>
            </a:r>
          </a:p>
          <a:p>
            <a:r>
              <a:rPr lang="en-US" dirty="0"/>
              <a:t>Lecture material will be available on GCR</a:t>
            </a:r>
          </a:p>
          <a:p>
            <a:r>
              <a:rPr lang="en-US" dirty="0"/>
              <a:t>Regularly review the lectures discussed in the class</a:t>
            </a:r>
          </a:p>
          <a:p>
            <a:r>
              <a:rPr lang="en-US" dirty="0"/>
              <a:t>Prior knowledge of Courses required</a:t>
            </a:r>
          </a:p>
          <a:p>
            <a:pPr lvl="1"/>
            <a:r>
              <a:rPr lang="en-US" dirty="0"/>
              <a:t>ITC and DLD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2B61AB-F1E4-D512-1022-385BF127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39857-B09F-C61E-3C7E-3400B3EB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171450"/>
            <a:ext cx="6919912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1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CD6ADE-7137-FFF1-7331-3B6DF1E0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8361F-BE57-3F37-A0C0-BE1FB082B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381000"/>
            <a:ext cx="9107424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0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8D0705-5799-AAB6-134C-8E5C7F68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87522-AE47-CEE2-EFD0-F3414CA2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3400"/>
            <a:ext cx="9144001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47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988FA-BBDC-4873-60B5-4859DC3E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400159-52C1-CC22-8DF5-621ACD5B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 Generations!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59B23-500F-9F51-6B58-5F2F1B1A0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555831" cy="437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7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         Some Basics- Quick Review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01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Numbering &amp; Coding Systems</a:t>
            </a:r>
          </a:p>
          <a:p>
            <a:r>
              <a:rPr lang="en-US" dirty="0"/>
              <a:t>Digital Primer</a:t>
            </a:r>
          </a:p>
          <a:p>
            <a:r>
              <a:rPr lang="en-US" dirty="0"/>
              <a:t>Semiconductor Memory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128979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Decimal, Binary and Hexadecimal Number Systems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Interconversion Between these Systems</a:t>
            </a:r>
          </a:p>
          <a:p>
            <a:pPr marL="109728" indent="0">
              <a:buNone/>
            </a:pPr>
            <a:r>
              <a:rPr lang="en-US" dirty="0"/>
              <a:t>        -</a:t>
            </a:r>
            <a:r>
              <a:rPr lang="en-US" sz="2000" dirty="0"/>
              <a:t>converting from decimal to binary and binary to decimal </a:t>
            </a:r>
          </a:p>
          <a:p>
            <a:pPr marL="109728" indent="0">
              <a:buNone/>
            </a:pPr>
            <a:r>
              <a:rPr lang="en-US" sz="2000" dirty="0"/>
              <a:t>           -converting between binary and hex</a:t>
            </a:r>
          </a:p>
          <a:p>
            <a:pPr marL="109728" indent="0">
              <a:buNone/>
            </a:pPr>
            <a:r>
              <a:rPr lang="en-US" sz="2000" dirty="0"/>
              <a:t>           -converting from hex to decimal</a:t>
            </a:r>
          </a:p>
          <a:p>
            <a:pPr marL="109728" indent="0">
              <a:buNone/>
            </a:pPr>
            <a:r>
              <a:rPr lang="en-US" sz="2000" dirty="0"/>
              <a:t>           -addition/subtraction of binary and hex numbers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Numbering &amp; Coding Systems</a:t>
            </a:r>
          </a:p>
        </p:txBody>
      </p:sp>
    </p:spTree>
    <p:extLst>
      <p:ext uri="{BB962C8B-B14F-4D97-AF65-F5344CB8AC3E}">
        <p14:creationId xmlns:p14="http://schemas.microsoft.com/office/powerpoint/2010/main" val="161401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EEF9BF-8508-BCD5-27A2-411548F26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2237" y="1934369"/>
            <a:ext cx="3819525" cy="3619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5928E6-806D-62E1-379C-901472B4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235F8B-194A-C244-BB4E-F34251F03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39" y="990600"/>
            <a:ext cx="6909861" cy="437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7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2E26A7-00C4-BFEA-8D66-515FFB72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90C9D-F4DB-963A-E182-E161307B5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62000"/>
            <a:ext cx="74676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47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05293-FC28-1D95-33E8-602A80B1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7F68C9-E045-09CD-A1ED-7A96752A8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1"/>
            <a:ext cx="8113872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81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285509-F33A-66C7-3E12-4240F5B8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8FD5C-9562-55B1-A782-BA45A292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00" y="1752600"/>
            <a:ext cx="7885552" cy="273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51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2FDEC-1E02-B205-CED2-E542D957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0DF56-636D-B161-5E13-E0F69ED8E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239000" cy="36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93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487F70-29BD-F6D8-19C6-639762E7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22416-4B69-DFEE-6CCB-539CF016B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24000"/>
            <a:ext cx="6934199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8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digital logic?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Logic gates are put together to form simple digital circuits, </a:t>
            </a:r>
            <a:r>
              <a:rPr lang="en-US" dirty="0" err="1"/>
              <a:t>i.e</a:t>
            </a:r>
            <a:r>
              <a:rPr lang="en-US" dirty="0"/>
              <a:t> Adders, </a:t>
            </a:r>
            <a:r>
              <a:rPr lang="en-US" dirty="0" err="1"/>
              <a:t>subtractor</a:t>
            </a:r>
            <a:r>
              <a:rPr lang="en-US" dirty="0"/>
              <a:t>, decoder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Primer</a:t>
            </a:r>
          </a:p>
        </p:txBody>
      </p:sp>
    </p:spTree>
    <p:extLst>
      <p:ext uri="{BB962C8B-B14F-4D97-AF65-F5344CB8AC3E}">
        <p14:creationId xmlns:p14="http://schemas.microsoft.com/office/powerpoint/2010/main" val="92786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SemiConductor</a:t>
            </a:r>
            <a:r>
              <a:rPr lang="en-US" dirty="0"/>
              <a:t>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8" y="1981200"/>
            <a:ext cx="3414712" cy="1390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8" y="3733800"/>
            <a:ext cx="6538912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34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Terminologies !</a:t>
            </a:r>
          </a:p>
        </p:txBody>
      </p:sp>
      <p:pic>
        <p:nvPicPr>
          <p:cNvPr id="2050" name="Picture 2" descr="https://www.techopedia.com/images/uploads/3438d40d0cf949c2b3f0b0da1fe4c59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52600"/>
            <a:ext cx="4724399" cy="318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2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&amp; ROM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6291262" cy="237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4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eft-Right Arrow 26"/>
          <p:cNvSpPr/>
          <p:nvPr/>
        </p:nvSpPr>
        <p:spPr>
          <a:xfrm rot="16200000">
            <a:off x="4114800" y="4800600"/>
            <a:ext cx="685800" cy="533400"/>
          </a:xfrm>
          <a:prstGeom prst="leftRight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8" name="Left-Right Arrow 27"/>
          <p:cNvSpPr/>
          <p:nvPr/>
        </p:nvSpPr>
        <p:spPr>
          <a:xfrm rot="16200000">
            <a:off x="7010400" y="4800600"/>
            <a:ext cx="685800" cy="533400"/>
          </a:xfrm>
          <a:prstGeom prst="leftRight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0" name="Right Arrow 29"/>
          <p:cNvSpPr/>
          <p:nvPr/>
        </p:nvSpPr>
        <p:spPr>
          <a:xfrm rot="5400000">
            <a:off x="6781800" y="2286000"/>
            <a:ext cx="1143000" cy="5334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9" name="Right Arrow 28"/>
          <p:cNvSpPr/>
          <p:nvPr/>
        </p:nvSpPr>
        <p:spPr>
          <a:xfrm rot="5400000">
            <a:off x="3505200" y="2286000"/>
            <a:ext cx="1143000" cy="5334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Computers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2362200" y="5334000"/>
            <a:ext cx="5638800" cy="609600"/>
          </a:xfrm>
          <a:prstGeom prst="leftRight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Data Bus</a:t>
            </a:r>
          </a:p>
        </p:txBody>
      </p:sp>
      <p:sp>
        <p:nvSpPr>
          <p:cNvPr id="33" name="Right Arrow 32"/>
          <p:cNvSpPr/>
          <p:nvPr/>
        </p:nvSpPr>
        <p:spPr>
          <a:xfrm rot="5400000">
            <a:off x="6477000" y="2590800"/>
            <a:ext cx="457200" cy="6096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2" name="Right Arrow 31"/>
          <p:cNvSpPr/>
          <p:nvPr/>
        </p:nvSpPr>
        <p:spPr>
          <a:xfrm rot="5400000">
            <a:off x="4495800" y="2590800"/>
            <a:ext cx="457200" cy="6096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81400" y="3124200"/>
            <a:ext cx="1600200" cy="1524000"/>
          </a:xfrm>
          <a:prstGeom prst="roundRect">
            <a:avLst/>
          </a:prstGeom>
          <a:solidFill>
            <a:srgbClr val="92D050"/>
          </a:solidFill>
          <a:ln w="3492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RAM/ROM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24200"/>
            <a:ext cx="1600200" cy="1524000"/>
          </a:xfrm>
          <a:prstGeom prst="roundRect">
            <a:avLst/>
          </a:prstGeom>
          <a:solidFill>
            <a:srgbClr val="00B0F0"/>
          </a:solidFill>
          <a:ln w="3492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I/O Device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438400" y="1447800"/>
            <a:ext cx="5715000" cy="6096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Address Bus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438400" y="2133600"/>
            <a:ext cx="5715000" cy="6858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Control Bus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371600"/>
            <a:ext cx="1371600" cy="4572000"/>
          </a:xfrm>
          <a:prstGeom prst="roundRect">
            <a:avLst/>
          </a:prstGeom>
          <a:solidFill>
            <a:schemeClr val="accent6"/>
          </a:solidFill>
          <a:ln w="3492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CPU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 animBg="1"/>
      <p:bldP spid="29" grpId="0" animBg="1"/>
      <p:bldP spid="23" grpId="0" animBg="1"/>
      <p:bldP spid="33" grpId="0" animBg="1"/>
      <p:bldP spid="32" grpId="0" animBg="1"/>
      <p:bldP spid="20" grpId="0" animBg="1"/>
      <p:bldP spid="21" grpId="0" animBg="1"/>
      <p:bldP spid="26" grpId="0" animBg="1"/>
      <p:bldP spid="31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6705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Address Bus</a:t>
            </a:r>
          </a:p>
          <a:p>
            <a:pPr lvl="1"/>
            <a:r>
              <a:rPr lang="en-US" dirty="0"/>
              <a:t>Size of Memory accessible by Processor</a:t>
            </a:r>
          </a:p>
          <a:p>
            <a:pPr lvl="1"/>
            <a:r>
              <a:rPr lang="en-US" dirty="0"/>
              <a:t>64 K locations = 16 bit address </a:t>
            </a:r>
          </a:p>
          <a:p>
            <a:pPr lvl="1"/>
            <a:r>
              <a:rPr lang="en-US" dirty="0"/>
              <a:t>4 GB = 32 bit; 16 EB = 64 bit</a:t>
            </a:r>
          </a:p>
          <a:p>
            <a:r>
              <a:rPr lang="en-US" dirty="0"/>
              <a:t>Data Bus</a:t>
            </a:r>
          </a:p>
          <a:p>
            <a:pPr lvl="1"/>
            <a:r>
              <a:rPr lang="en-US" dirty="0"/>
              <a:t>Chunk of Data accessible</a:t>
            </a:r>
          </a:p>
          <a:p>
            <a:pPr lvl="1"/>
            <a:r>
              <a:rPr lang="en-US" dirty="0"/>
              <a:t>8-bit data Bus accesses 1 byte</a:t>
            </a:r>
          </a:p>
          <a:p>
            <a:pPr lvl="1"/>
            <a:r>
              <a:rPr lang="en-US" dirty="0"/>
              <a:t>16-bit data Bus accesses 2 bytes</a:t>
            </a:r>
          </a:p>
          <a:p>
            <a:pPr lvl="1"/>
            <a:r>
              <a:rPr lang="en-US" dirty="0"/>
              <a:t>64-bit data Bus accesses 8 bytes</a:t>
            </a:r>
          </a:p>
          <a:p>
            <a:r>
              <a:rPr lang="en-US" dirty="0"/>
              <a:t>RAM</a:t>
            </a:r>
          </a:p>
          <a:p>
            <a:pPr lvl="1"/>
            <a:r>
              <a:rPr lang="en-US" dirty="0"/>
              <a:t>Stores program and data which is not permanent</a:t>
            </a:r>
          </a:p>
          <a:p>
            <a:r>
              <a:rPr lang="en-US" dirty="0"/>
              <a:t>ROM</a:t>
            </a:r>
          </a:p>
          <a:p>
            <a:pPr lvl="1"/>
            <a:r>
              <a:rPr lang="en-US" dirty="0"/>
              <a:t>Stores permanent code and data</a:t>
            </a:r>
          </a:p>
          <a:p>
            <a:pPr lvl="1"/>
            <a:r>
              <a:rPr lang="en-US" dirty="0"/>
              <a:t>Now flash / UEFI firmware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05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Organization of Computers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6383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3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– Process information stored in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I/O – Provides mean of communicating with CPU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Memory- RAM &amp; ROM</a:t>
            </a:r>
          </a:p>
          <a:p>
            <a:pPr marL="109728" indent="0">
              <a:buNone/>
            </a:pPr>
            <a:r>
              <a:rPr lang="en-US" dirty="0"/>
              <a:t>-RAM is a volatile and is used by the computer for temporary storage of a program that is running.</a:t>
            </a:r>
          </a:p>
          <a:p>
            <a:pPr marL="109728" indent="0">
              <a:buNone/>
            </a:pPr>
            <a:r>
              <a:rPr lang="en-US" dirty="0"/>
              <a:t>-ROM is a non-volatile, information is permanent and can not be changed by the user.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is connected to I/O’s &amp; Memory through buses.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Internal</a:t>
            </a:r>
            <a:r>
              <a:rPr lang="en-US" sz="3200" dirty="0"/>
              <a:t> Organization of Computers</a:t>
            </a:r>
          </a:p>
        </p:txBody>
      </p:sp>
    </p:spTree>
    <p:extLst>
      <p:ext uri="{BB962C8B-B14F-4D97-AF65-F5344CB8AC3E}">
        <p14:creationId xmlns:p14="http://schemas.microsoft.com/office/powerpoint/2010/main" val="472595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Address Bus – For a device to be recognized by the  CPU it must be assigned an address.</a:t>
            </a:r>
          </a:p>
          <a:p>
            <a:pPr marL="109728" indent="0" algn="just">
              <a:buNone/>
            </a:pPr>
            <a:r>
              <a:rPr lang="en-US" dirty="0"/>
              <a:t>   Address assigned to a given device must be unique.</a:t>
            </a:r>
          </a:p>
          <a:p>
            <a:pPr marL="109728" indent="0" algn="just">
              <a:buNone/>
            </a:pPr>
            <a:r>
              <a:rPr lang="en-US" dirty="0"/>
              <a:t>CPU puts the address on the address bus, and the decoding circuity finds the device.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Data Bus- CPU uses data bus either to get data from or to send the device.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Control Bus –CPU use the control bus to provide the read or write signal to the device to indicate if the CPU is asking for information or sending information.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Address, Data &amp; Control Bus</a:t>
            </a:r>
          </a:p>
        </p:txBody>
      </p:sp>
    </p:spTree>
    <p:extLst>
      <p:ext uri="{BB962C8B-B14F-4D97-AF65-F5344CB8AC3E}">
        <p14:creationId xmlns:p14="http://schemas.microsoft.com/office/powerpoint/2010/main" val="1344631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More data buses available the better and expensive the CPU will be..</a:t>
                </a:r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/>
                        </a:rPr>
                        <m:t>𝑎𝑣𝑒𝑟𝑎𝑔𝑒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𝑠𝑖𝑧𝑒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𝑜𝑓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𝑑𝑎𝑡𝑎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𝑏𝑢𝑠𝑒𝑠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𝑣𝑎𝑟𝑖𝑒𝑠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𝑏𝑒𝑡𝑤𝑒𝑒𝑛</m:t>
                      </m:r>
                      <m:r>
                        <a:rPr lang="en-US" b="0" i="1" smtClean="0">
                          <a:latin typeface="Cambria Math"/>
                        </a:rPr>
                        <m:t> 8 &amp; 64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Data buses are bidirectional.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Processing power of CPU is related to the size of its buses.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Modern CPUs: 64-bit external data bus; 128/256/512-bit SIMD paths (SSE/AVX).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A DDR5 channel is 64 bits wide, split into two 32-bit sub-channels.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13" b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More about Data Bus..</a:t>
            </a:r>
          </a:p>
        </p:txBody>
      </p:sp>
    </p:spTree>
    <p:extLst>
      <p:ext uri="{BB962C8B-B14F-4D97-AF65-F5344CB8AC3E}">
        <p14:creationId xmlns:p14="http://schemas.microsoft.com/office/powerpoint/2010/main" val="125253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More address buses present, the larger device can be addressed. Number of address buses determines the number of locations with which it can communicate</a:t>
                </a:r>
              </a:p>
              <a:p>
                <a:pPr marL="109728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𝑛𝑢𝑚𝑏𝑒𝑟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𝑜𝑓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𝑙𝑜𝑐𝑎𝑡𝑖𝑜𝑛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𝑎𝑟𝑒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𝑛𝑢𝑚𝑏𝑒𝑟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𝑎𝑑𝑑𝑟𝑒𝑠𝑠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𝑙𝑖𝑛𝑒𝑠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CPU with 16 address lines can provide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16  </m:t>
                        </m:r>
                      </m:sup>
                    </m:sSup>
                  </m:oMath>
                </a14:m>
                <a:r>
                  <a:rPr lang="en-US" dirty="0"/>
                  <a:t>of addressable memory.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x86-64 uses 48 address lines for virtual and up to 52 for physical memory.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48 lines = 256 TB of address space, far beyond installed RAM.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3" r="-1185" b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More about Address Bus</a:t>
            </a:r>
          </a:p>
        </p:txBody>
      </p:sp>
    </p:spTree>
    <p:extLst>
      <p:ext uri="{BB962C8B-B14F-4D97-AF65-F5344CB8AC3E}">
        <p14:creationId xmlns:p14="http://schemas.microsoft.com/office/powerpoint/2010/main" val="452608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6ED596-EE21-4C22-FC9C-7C27DF8B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741855-D702-67B1-CB3F-F0AF1540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Address Bus Width: 16 to 64 Bits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134BBA-EAED-457B-99BA-2859E6228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266607"/>
              </p:ext>
            </p:extLst>
          </p:nvPr>
        </p:nvGraphicFramePr>
        <p:xfrm>
          <a:off x="685800" y="1625600"/>
          <a:ext cx="7772400" cy="346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72119717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76072021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66394141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Address Lines</a:t>
                      </a:r>
                    </a:p>
                  </a:txBody>
                  <a:tcPr anchor="ctr">
                    <a:solidFill>
                      <a:srgbClr val="B83D6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Addressable Locations</a:t>
                      </a:r>
                    </a:p>
                  </a:txBody>
                  <a:tcPr anchor="ctr">
                    <a:solidFill>
                      <a:srgbClr val="B83D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Where You See It</a:t>
                      </a:r>
                    </a:p>
                  </a:txBody>
                  <a:tcPr anchor="ctr">
                    <a:solidFill>
                      <a:srgbClr val="B8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085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2¹⁶ = 64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Intel 8085 (1976)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22265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2²⁰ = 1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Intel 8086 (1978)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82433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2³² = 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IA-32 / Pentium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27147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2⁴⁸ = 256 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x86-64 virtual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16472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2⁵² = 4 PB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x86-64 physical limit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14113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2⁶⁴ = 16 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Architectural ceiling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2366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0364A1-548F-40E9-A884-D84A0F53D1F3}"/>
              </a:ext>
            </a:extLst>
          </p:cNvPr>
          <p:cNvSpPr txBox="1"/>
          <p:nvPr/>
        </p:nvSpPr>
        <p:spPr>
          <a:xfrm>
            <a:off x="685800" y="52070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B13F9A"/>
                </a:solidFill>
              </a:rPr>
              <a:t>Doubling the address bus does not double memory — it squares the reach.</a:t>
            </a:r>
          </a:p>
        </p:txBody>
      </p:sp>
    </p:spTree>
    <p:extLst>
      <p:ext uri="{BB962C8B-B14F-4D97-AF65-F5344CB8AC3E}">
        <p14:creationId xmlns:p14="http://schemas.microsoft.com/office/powerpoint/2010/main" val="3841509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For a CPU to process information the data must be present in ROM or RAM.</a:t>
                </a:r>
              </a:p>
              <a:p>
                <a:pPr marL="109728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𝑅𝑂𝑀</m:t>
                    </m:r>
                  </m:oMath>
                </a14:m>
                <a:r>
                  <a:rPr lang="en-US" dirty="0"/>
                  <a:t> provides fixed and permanent information such as tables for character patterns or initialization programs.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Today that ROM is flash memory holding UEFI firmware: non-volatile, but field-updatable.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RAM stores temporary information that can be changed with time such as various versions of OS and application packages etc.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CPU gets information to be processed from RAM or ROM, if its not there it request the secondary storage such hard drives and transfer the information to RAM.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87" r="-1778" b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CPU and Its relation to RAM &amp; ROM</a:t>
            </a:r>
          </a:p>
        </p:txBody>
      </p:sp>
    </p:spTree>
    <p:extLst>
      <p:ext uri="{BB962C8B-B14F-4D97-AF65-F5344CB8AC3E}">
        <p14:creationId xmlns:p14="http://schemas.microsoft.com/office/powerpoint/2010/main" val="2975874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7C58F1-7780-E7B8-4DC6-0F7A5F19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A1E4E5-DFFF-DC7D-4E2E-34DFF51D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Modern Memory Hierarchy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04B567-EE64-49DB-A7AC-22939E08F7A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62560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0539124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8976021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41268913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97501192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anchor="ctr">
                    <a:solidFill>
                      <a:srgbClr val="B83D6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Typical Size</a:t>
                      </a:r>
                    </a:p>
                  </a:txBody>
                  <a:tcPr anchor="ctr">
                    <a:solidFill>
                      <a:srgbClr val="B83D6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Access Time</a:t>
                      </a:r>
                    </a:p>
                  </a:txBody>
                  <a:tcPr anchor="ctr">
                    <a:solidFill>
                      <a:srgbClr val="B83D6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Managed By</a:t>
                      </a:r>
                    </a:p>
                  </a:txBody>
                  <a:tcPr anchor="ctr">
                    <a:solidFill>
                      <a:srgbClr val="B8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09747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L1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32–64 KB /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~1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97946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L2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0.5–2 MB /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~4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01462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L3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8–64 MB shared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~15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55572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Main memory (DDR5)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8–64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~80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58744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NVMe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256 GB – 4 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~50 µs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789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181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Number of bits that semiconductor memory can store is chip capacity. </a:t>
                </a:r>
              </a:p>
              <a:p>
                <a:pPr marL="109728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𝑚𝑒𝑚𝑜𝑟𝑦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𝑐𝑎𝑛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𝑏𝑒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𝑖𝑛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𝑢𝑛𝑖𝑡𝑠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𝑜𝑓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𝑘𝑏𝑖𝑡𝑠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𝑀𝑏𝑖𝑡𝑠</m:t>
                    </m:r>
                    <m:r>
                      <a:rPr lang="en-US" b="0" i="1" smtClean="0">
                        <a:latin typeface="Cambria Math"/>
                      </a:rPr>
                      <m:t> ..</m:t>
                    </m:r>
                  </m:oMath>
                </a14:m>
                <a:endParaRPr lang="en-US" b="0" dirty="0"/>
              </a:p>
              <a:p>
                <a:pPr marL="109728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Memory Capacity</a:t>
            </a:r>
          </a:p>
        </p:txBody>
      </p:sp>
    </p:spTree>
    <p:extLst>
      <p:ext uri="{BB962C8B-B14F-4D97-AF65-F5344CB8AC3E}">
        <p14:creationId xmlns:p14="http://schemas.microsoft.com/office/powerpoint/2010/main" val="2061163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A memory chip contains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locations-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𝑎𝑟𝑒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𝑎𝑑𝑑𝑟𝑒𝑠𝑠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𝑝𝑖𝑛𝑠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Each location contains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𝑏𝑖𝑡𝑠</m:t>
                    </m:r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𝑖𝑠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𝑡ℎ𝑒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𝑛𝑢𝑚𝑏𝑒𝑟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𝑜𝑑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𝑑𝑎𝑡𝑎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𝑝𝑖𝑛𝑠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𝑜𝑛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𝑡ℎ𝑒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𝑐ℎ𝑖𝑝</m:t>
                    </m:r>
                  </m:oMath>
                </a14:m>
                <a:endParaRPr lang="en-US" b="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Entire chip will contain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∗</m:t>
                    </m:r>
                    <m:r>
                      <a:rPr lang="en-US" b="0" i="1" dirty="0" smtClean="0">
                        <a:latin typeface="Cambria Math"/>
                      </a:rPr>
                      <m:t>𝑦</m:t>
                    </m:r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</a:rPr>
                      <m:t>𝑏𝑖𝑡𝑠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Memory Organization </a:t>
            </a:r>
          </a:p>
        </p:txBody>
      </p:sp>
    </p:spTree>
    <p:extLst>
      <p:ext uri="{BB962C8B-B14F-4D97-AF65-F5344CB8AC3E}">
        <p14:creationId xmlns:p14="http://schemas.microsoft.com/office/powerpoint/2010/main" val="3713565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Examples.. Finding Capacity &amp; Organization of memory..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19200"/>
            <a:ext cx="7162800" cy="537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82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Capacity &amp; Org. of Some UV-EPROM Chips…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1" y="1752600"/>
            <a:ext cx="695671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77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CPU uses </a:t>
            </a:r>
            <a:r>
              <a:rPr lang="en-US" dirty="0">
                <a:solidFill>
                  <a:srgbClr val="FF0000"/>
                </a:solidFill>
              </a:rPr>
              <a:t>registers</a:t>
            </a:r>
            <a:r>
              <a:rPr lang="en-US" dirty="0"/>
              <a:t> to store information temporarily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Registers can be 8-bit, 16-bit, 32-bit or even 64-bit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More and bigger registers, the better the CPU.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cost is increased with more and bigger registers.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is having </a:t>
            </a:r>
            <a:r>
              <a:rPr lang="en-US" dirty="0">
                <a:solidFill>
                  <a:srgbClr val="FF0000"/>
                </a:solidFill>
              </a:rPr>
              <a:t>ALU</a:t>
            </a:r>
            <a:r>
              <a:rPr lang="en-US" dirty="0"/>
              <a:t> for performing athematic functions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Program counter </a:t>
            </a:r>
            <a:r>
              <a:rPr lang="en-US" dirty="0"/>
              <a:t>in the CPU points to the address of the next instruction to be executed.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Instruction decoder </a:t>
            </a:r>
            <a:r>
              <a:rPr lang="en-US" dirty="0"/>
              <a:t>in CPU interpret the instruction fetch into he CPU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capable of understanding more instructions requires more transistors to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Inside CPU</a:t>
            </a:r>
          </a:p>
        </p:txBody>
      </p:sp>
    </p:spTree>
    <p:extLst>
      <p:ext uri="{BB962C8B-B14F-4D97-AF65-F5344CB8AC3E}">
        <p14:creationId xmlns:p14="http://schemas.microsoft.com/office/powerpoint/2010/main" val="2684697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Example Internal Working of CPU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890" y="1509444"/>
            <a:ext cx="6230220" cy="443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58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Add numbers 21, 42 and 12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Which system unit will add the two numbers? (Register, ALU, Control Unit)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The ALU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Before the ALU can add the numbers, where should the numbers be temporarily stored?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Registers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Assume  that CPU has four registers A, B, C &amp;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398421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What is the range of memory address and size of data if the CPU can access data through an 8-bit data bus and 16-bit address bus? 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It can access one byte of instruction or data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Address range is 0000 to FFFF 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256686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CPU performs the following actions to add the three numbers</a:t>
            </a:r>
          </a:p>
          <a:p>
            <a:pPr lvl="1"/>
            <a:r>
              <a:rPr lang="en-US" dirty="0"/>
              <a:t>Put 21 into A register</a:t>
            </a:r>
          </a:p>
          <a:p>
            <a:pPr lvl="1"/>
            <a:r>
              <a:rPr lang="en-US" dirty="0"/>
              <a:t>Add to register A the value 42</a:t>
            </a:r>
          </a:p>
          <a:p>
            <a:pPr lvl="1"/>
            <a:r>
              <a:rPr lang="en-US" dirty="0"/>
              <a:t>Add to register A the value 12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program instructions which implement the above actions are stored in the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code to move the value to register A is</a:t>
            </a:r>
          </a:p>
          <a:p>
            <a:pPr lvl="1"/>
            <a:r>
              <a:rPr lang="en-US" dirty="0"/>
              <a:t>1011 0000 (B0 H)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code to add the value to register A is</a:t>
            </a:r>
          </a:p>
          <a:p>
            <a:pPr lvl="1"/>
            <a:r>
              <a:rPr lang="en-US" dirty="0"/>
              <a:t>0000 0100 (04 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292789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09728" indent="0">
              <a:buNone/>
            </a:pPr>
            <a:r>
              <a:rPr lang="en-US" dirty="0"/>
              <a:t>Action					Code		Data</a:t>
            </a:r>
          </a:p>
          <a:p>
            <a:pPr marL="109728" indent="0">
              <a:buNone/>
            </a:pPr>
            <a:r>
              <a:rPr lang="en-US" dirty="0"/>
              <a:t>Move value 21 H into reg. A	        B0 H		21 H</a:t>
            </a:r>
          </a:p>
          <a:p>
            <a:pPr marL="109728" indent="0">
              <a:buNone/>
            </a:pPr>
            <a:r>
              <a:rPr lang="en-US" dirty="0"/>
              <a:t>Add value 42 H to reg. A		04 H		42 H</a:t>
            </a:r>
          </a:p>
          <a:p>
            <a:pPr marL="109728" indent="0">
              <a:buNone/>
            </a:pPr>
            <a:r>
              <a:rPr lang="en-US" dirty="0"/>
              <a:t>Add value 12 H to reg. A		04 H		12 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Where should the program be stored?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In the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At which address should the program be stored?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The first address of the memory 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But the start address can be any address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Assume first address where instruction is stored is 1400 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237279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What is the size of the program? (in bytes)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Seven bytes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4294967295"/>
          </p:nvPr>
        </p:nvSpPr>
        <p:spPr>
          <a:xfrm>
            <a:off x="5105400" y="1481138"/>
            <a:ext cx="4038600" cy="4525962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None/>
            </a:pPr>
            <a:r>
              <a:rPr lang="en-US" dirty="0"/>
              <a:t>Address	Instruction</a:t>
            </a:r>
          </a:p>
          <a:p>
            <a:pPr>
              <a:buNone/>
            </a:pPr>
            <a:r>
              <a:rPr lang="en-US" dirty="0"/>
              <a:t>1400		B0</a:t>
            </a:r>
          </a:p>
          <a:p>
            <a:pPr>
              <a:buNone/>
            </a:pPr>
            <a:r>
              <a:rPr lang="en-US" dirty="0"/>
              <a:t>1401		21</a:t>
            </a:r>
          </a:p>
          <a:p>
            <a:pPr>
              <a:buNone/>
            </a:pPr>
            <a:r>
              <a:rPr lang="en-US" dirty="0"/>
              <a:t>1402		04</a:t>
            </a:r>
          </a:p>
          <a:p>
            <a:pPr>
              <a:buNone/>
            </a:pPr>
            <a:r>
              <a:rPr lang="en-US" dirty="0"/>
              <a:t>1403		42</a:t>
            </a:r>
          </a:p>
          <a:p>
            <a:pPr>
              <a:buNone/>
            </a:pPr>
            <a:r>
              <a:rPr lang="en-US" dirty="0"/>
              <a:t>1404		04</a:t>
            </a:r>
          </a:p>
          <a:p>
            <a:pPr>
              <a:buNone/>
            </a:pPr>
            <a:r>
              <a:rPr lang="en-US" dirty="0"/>
              <a:t>1405		12</a:t>
            </a:r>
          </a:p>
          <a:p>
            <a:pPr>
              <a:buNone/>
            </a:pPr>
            <a:r>
              <a:rPr lang="en-US" dirty="0"/>
              <a:t>1406		F4</a:t>
            </a:r>
          </a:p>
        </p:txBody>
      </p:sp>
    </p:spTree>
    <p:extLst>
      <p:ext uri="{BB962C8B-B14F-4D97-AF65-F5344CB8AC3E}">
        <p14:creationId xmlns:p14="http://schemas.microsoft.com/office/powerpoint/2010/main" val="179328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888" y="1481138"/>
            <a:ext cx="6314223" cy="452596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Von Neumann vs. Harvard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49973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Every microprocessor must have memory space to store program (code) and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Code provides instruction to the CPU while data provides the information to be processed.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Buses are used to access the code ROM &amp; data RAM memory spaces.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Early computer used the same buses for both code &amp; data - </a:t>
            </a:r>
            <a:r>
              <a:rPr lang="en-US" sz="2400" dirty="0">
                <a:solidFill>
                  <a:srgbClr val="FF0000"/>
                </a:solidFill>
              </a:rPr>
              <a:t>Von Neumann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Such architecture slow down the processing speed of the CPU….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7551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Separate buses are used to access code and data- </a:t>
            </a:r>
            <a:r>
              <a:rPr lang="en-US" sz="2400" dirty="0"/>
              <a:t>Harvard Architecture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Modern CPUs are modified Harvard: split L1 instruction and L1 data caches feed a unified L2/L3 and a single main memory.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So the programmer sees one Von Neumann memory, while the hardware fetches code and data in parallel.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F5B-4A4F-9F1B-4A4E1F5E1A11}" type="slidenum">
              <a:rPr lang="en-US" smtClean="0"/>
              <a:t>43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Harvard Architecture in Modern CPUs</a:t>
            </a:r>
          </a:p>
        </p:txBody>
      </p:sp>
    </p:spTree>
    <p:extLst>
      <p:ext uri="{BB962C8B-B14F-4D97-AF65-F5344CB8AC3E}">
        <p14:creationId xmlns:p14="http://schemas.microsoft.com/office/powerpoint/2010/main" val="3692759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BF2908-D3D0-1B89-7AFF-79E4A4F8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B4C35-EA6F-AC19-2E53-3EF3F1B8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Modified Harvard: How Real CPUs Split Code and Data</a:t>
            </a:r>
          </a:p>
        </p:txBody>
      </p:sp>
      <p:sp>
        <p:nvSpPr>
          <p:cNvPr id="101" name="Box 101"/>
          <p:cNvSpPr/>
          <p:nvPr/>
        </p:nvSpPr>
        <p:spPr>
          <a:xfrm>
            <a:off x="3200400" y="1549400"/>
            <a:ext cx="2743200" cy="660400"/>
          </a:xfrm>
          <a:prstGeom prst="roundRect">
            <a:avLst/>
          </a:prstGeom>
          <a:solidFill>
            <a:srgbClr val="B83D68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CPU Core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(fetch + execute)</a:t>
            </a:r>
          </a:p>
        </p:txBody>
      </p:sp>
      <p:sp>
        <p:nvSpPr>
          <p:cNvPr id="102" name="Arrow 102"/>
          <p:cNvSpPr/>
          <p:nvPr/>
        </p:nvSpPr>
        <p:spPr>
          <a:xfrm>
            <a:off x="3810000" y="2260600"/>
            <a:ext cx="304800" cy="431800"/>
          </a:xfrm>
          <a:prstGeom prst="downArrow">
            <a:avLst/>
          </a:prstGeom>
          <a:solidFill>
            <a:srgbClr val="B13F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rrow 103"/>
          <p:cNvSpPr/>
          <p:nvPr/>
        </p:nvSpPr>
        <p:spPr>
          <a:xfrm>
            <a:off x="5029200" y="2260600"/>
            <a:ext cx="304800" cy="431800"/>
          </a:xfrm>
          <a:prstGeom prst="downArrow">
            <a:avLst/>
          </a:prstGeom>
          <a:solidFill>
            <a:srgbClr val="B13F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Box 104"/>
          <p:cNvSpPr/>
          <p:nvPr/>
        </p:nvSpPr>
        <p:spPr>
          <a:xfrm>
            <a:off x="2286000" y="2743200"/>
            <a:ext cx="2133600" cy="711200"/>
          </a:xfrm>
          <a:prstGeom prst="roundRect">
            <a:avLst/>
          </a:prstGeom>
          <a:solidFill>
            <a:srgbClr val="AC66BB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L1 Instruction Cache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(code only)</a:t>
            </a:r>
          </a:p>
        </p:txBody>
      </p:sp>
      <p:sp>
        <p:nvSpPr>
          <p:cNvPr id="105" name="Box 105"/>
          <p:cNvSpPr/>
          <p:nvPr/>
        </p:nvSpPr>
        <p:spPr>
          <a:xfrm>
            <a:off x="4724400" y="2743200"/>
            <a:ext cx="2133600" cy="711200"/>
          </a:xfrm>
          <a:prstGeom prst="roundRect">
            <a:avLst/>
          </a:prstGeom>
          <a:solidFill>
            <a:srgbClr val="CF6DA4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L1 Data Cache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(data only)</a:t>
            </a:r>
          </a:p>
        </p:txBody>
      </p:sp>
      <p:sp>
        <p:nvSpPr>
          <p:cNvPr id="106" name="Arrow 106"/>
          <p:cNvSpPr/>
          <p:nvPr/>
        </p:nvSpPr>
        <p:spPr>
          <a:xfrm>
            <a:off x="3238500" y="3505200"/>
            <a:ext cx="304800" cy="381000"/>
          </a:xfrm>
          <a:prstGeom prst="downArrow">
            <a:avLst/>
          </a:prstGeom>
          <a:solidFill>
            <a:srgbClr val="B13F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Arrow 107"/>
          <p:cNvSpPr/>
          <p:nvPr/>
        </p:nvSpPr>
        <p:spPr>
          <a:xfrm>
            <a:off x="5600700" y="3505200"/>
            <a:ext cx="304800" cy="381000"/>
          </a:xfrm>
          <a:prstGeom prst="downArrow">
            <a:avLst/>
          </a:prstGeom>
          <a:solidFill>
            <a:srgbClr val="B13F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Box 108"/>
          <p:cNvSpPr/>
          <p:nvPr/>
        </p:nvSpPr>
        <p:spPr>
          <a:xfrm>
            <a:off x="2286000" y="3937000"/>
            <a:ext cx="4572000" cy="584200"/>
          </a:xfrm>
          <a:prstGeom prst="roundRect">
            <a:avLst/>
          </a:prstGeom>
          <a:solidFill>
            <a:srgbClr val="B13F9A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Unified L2 / L3 Cache</a:t>
            </a:r>
          </a:p>
        </p:txBody>
      </p:sp>
      <p:sp>
        <p:nvSpPr>
          <p:cNvPr id="109" name="Arrow 109"/>
          <p:cNvSpPr/>
          <p:nvPr/>
        </p:nvSpPr>
        <p:spPr>
          <a:xfrm>
            <a:off x="4419600" y="4572000"/>
            <a:ext cx="304800" cy="381000"/>
          </a:xfrm>
          <a:prstGeom prst="downArrow">
            <a:avLst/>
          </a:prstGeom>
          <a:solidFill>
            <a:srgbClr val="B13F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Box 110"/>
          <p:cNvSpPr/>
          <p:nvPr/>
        </p:nvSpPr>
        <p:spPr>
          <a:xfrm>
            <a:off x="2286000" y="5003800"/>
            <a:ext cx="4572000" cy="584200"/>
          </a:xfrm>
          <a:prstGeom prst="roundRect">
            <a:avLst/>
          </a:prstGeom>
          <a:solidFill>
            <a:srgbClr val="8E2B4E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Main Memory (DDR5)</a:t>
            </a:r>
          </a:p>
        </p:txBody>
      </p:sp>
      <p:sp>
        <p:nvSpPr>
          <p:cNvPr id="111" name="Box 111"/>
          <p:cNvSpPr/>
          <p:nvPr/>
        </p:nvSpPr>
        <p:spPr>
          <a:xfrm>
            <a:off x="7061200" y="2743200"/>
            <a:ext cx="1778000" cy="1778000"/>
          </a:xfrm>
          <a:prstGeom prst="roundRect">
            <a:avLst/>
          </a:prstGeom>
          <a:solidFill>
            <a:srgbClr val="F4E7ED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E2B4E"/>
                </a:solidFill>
              </a:rPr>
              <a:t>Harvard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8E2B4E"/>
                </a:solidFill>
              </a:rPr>
              <a:t>inside the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8E2B4E"/>
                </a:solidFill>
              </a:rPr>
              <a:t>core</a:t>
            </a:r>
          </a:p>
        </p:txBody>
      </p:sp>
      <p:sp>
        <p:nvSpPr>
          <p:cNvPr id="112" name="Box 112"/>
          <p:cNvSpPr/>
          <p:nvPr/>
        </p:nvSpPr>
        <p:spPr>
          <a:xfrm>
            <a:off x="7061200" y="5003800"/>
            <a:ext cx="1778000" cy="584200"/>
          </a:xfrm>
          <a:prstGeom prst="roundRect">
            <a:avLst/>
          </a:prstGeom>
          <a:solidFill>
            <a:srgbClr val="F4E7ED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E2B4E"/>
                </a:solidFill>
              </a:rPr>
              <a:t>Von Neumann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8E2B4E"/>
                </a:solidFill>
              </a:rPr>
              <a:t>outside</a:t>
            </a:r>
          </a:p>
        </p:txBody>
      </p:sp>
    </p:spTree>
    <p:extLst>
      <p:ext uri="{BB962C8B-B14F-4D97-AF65-F5344CB8AC3E}">
        <p14:creationId xmlns:p14="http://schemas.microsoft.com/office/powerpoint/2010/main" val="520286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5D921-870D-524F-ECD6-84E044BF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EA0DDC-9595-B212-DAAB-B286DBF3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This Takes You Next</a:t>
            </a:r>
          </a:p>
        </p:txBody>
      </p:sp>
      <p:sp>
        <p:nvSpPr>
          <p:cNvPr id="401" name="Shape 401"/>
          <p:cNvSpPr/>
          <p:nvPr/>
        </p:nvSpPr>
        <p:spPr>
          <a:xfrm>
            <a:off x="609600" y="1498600"/>
            <a:ext cx="7924800" cy="635000"/>
          </a:xfrm>
          <a:prstGeom prst="roundRect">
            <a:avLst/>
          </a:prstGeom>
          <a:solidFill>
            <a:srgbClr val="F4E7ED"/>
          </a:solidFill>
          <a:ln>
            <a:noFill/>
          </a:ln>
        </p:spPr>
        <p:txBody>
          <a:bodyPr wrap="square" lIns="72000" tIns="36000" rIns="216000" bIns="3600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rgbClr val="8E2B4E"/>
                </a:solidFill>
              </a:rPr>
              <a:t>You now know: number systems, buses, registers, memory organization and the fetch–execute cycle.</a:t>
            </a:r>
          </a:p>
        </p:txBody>
      </p:sp>
      <p:sp>
        <p:nvSpPr>
          <p:cNvPr id="402" name="Shape 402"/>
          <p:cNvSpPr/>
          <p:nvPr/>
        </p:nvSpPr>
        <p:spPr>
          <a:xfrm>
            <a:off x="609600" y="2514600"/>
            <a:ext cx="2209800" cy="711200"/>
          </a:xfrm>
          <a:prstGeom prst="homePlate">
            <a:avLst/>
          </a:prstGeom>
          <a:solidFill>
            <a:srgbClr val="B83D68"/>
          </a:solidFill>
          <a:ln>
            <a:noFill/>
          </a:ln>
        </p:spPr>
        <p:txBody>
          <a:bodyPr wrap="square" lIns="198000" tIns="36000" rIns="216000" bIns="3600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Assembly</a:t>
            </a:r>
          </a:p>
        </p:txBody>
      </p:sp>
      <p:sp>
        <p:nvSpPr>
          <p:cNvPr id="403" name="Shape 403"/>
          <p:cNvSpPr/>
          <p:nvPr/>
        </p:nvSpPr>
        <p:spPr>
          <a:xfrm>
            <a:off x="660400" y="3352800"/>
            <a:ext cx="187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216000" bIns="36000" anchor="t">
            <a:normAutofit/>
          </a:bodyPr>
          <a:lstStyle/>
          <a:p>
            <a:pPr algn="ctr">
              <a:buNone/>
            </a:pPr>
            <a:r>
              <a:rPr lang="en-US" sz="1400" b="0" i="0" dirty="0">
                <a:solidFill>
                  <a:srgbClr val="333333"/>
                </a:solidFill>
              </a:rPr>
              <a:t>Write directly to the registers you just studied.</a:t>
            </a:r>
          </a:p>
        </p:txBody>
      </p:sp>
      <p:sp>
        <p:nvSpPr>
          <p:cNvPr id="404" name="Shape 404"/>
          <p:cNvSpPr/>
          <p:nvPr/>
        </p:nvSpPr>
        <p:spPr>
          <a:xfrm>
            <a:off x="2616200" y="2514600"/>
            <a:ext cx="2209800" cy="711200"/>
          </a:xfrm>
          <a:prstGeom prst="homePlate">
            <a:avLst/>
          </a:prstGeom>
          <a:solidFill>
            <a:srgbClr val="AC66BB"/>
          </a:solidFill>
          <a:ln>
            <a:noFill/>
          </a:ln>
        </p:spPr>
        <p:txBody>
          <a:bodyPr wrap="square" lIns="198000" tIns="36000" rIns="216000" bIns="3600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Operating Systems</a:t>
            </a:r>
          </a:p>
        </p:txBody>
      </p:sp>
      <p:sp>
        <p:nvSpPr>
          <p:cNvPr id="405" name="Shape 405"/>
          <p:cNvSpPr/>
          <p:nvPr/>
        </p:nvSpPr>
        <p:spPr>
          <a:xfrm>
            <a:off x="2667000" y="3352800"/>
            <a:ext cx="187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216000" bIns="36000" anchor="t">
            <a:normAutofit/>
          </a:bodyPr>
          <a:lstStyle/>
          <a:p>
            <a:pPr algn="ctr">
              <a:buNone/>
            </a:pPr>
            <a:r>
              <a:rPr lang="en-US" sz="1400" b="0" i="0" dirty="0">
                <a:solidFill>
                  <a:srgbClr val="333333"/>
                </a:solidFill>
              </a:rPr>
              <a:t>Memory maps, interrupts and address spaces.</a:t>
            </a:r>
          </a:p>
        </p:txBody>
      </p:sp>
      <p:sp>
        <p:nvSpPr>
          <p:cNvPr id="406" name="Shape 406"/>
          <p:cNvSpPr/>
          <p:nvPr/>
        </p:nvSpPr>
        <p:spPr>
          <a:xfrm>
            <a:off x="4622800" y="2514600"/>
            <a:ext cx="2209800" cy="711200"/>
          </a:xfrm>
          <a:prstGeom prst="homePlate">
            <a:avLst/>
          </a:prstGeom>
          <a:solidFill>
            <a:srgbClr val="B13F9A"/>
          </a:solidFill>
          <a:ln>
            <a:noFill/>
          </a:ln>
        </p:spPr>
        <p:txBody>
          <a:bodyPr wrap="square" lIns="198000" tIns="36000" rIns="216000" bIns="3600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07" name="Shape 407"/>
          <p:cNvSpPr/>
          <p:nvPr/>
        </p:nvSpPr>
        <p:spPr>
          <a:xfrm>
            <a:off x="4673600" y="3352800"/>
            <a:ext cx="187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216000" bIns="36000" anchor="t">
            <a:normAutofit/>
          </a:bodyPr>
          <a:lstStyle/>
          <a:p>
            <a:pPr algn="ctr">
              <a:buNone/>
            </a:pPr>
            <a:r>
              <a:rPr lang="en-US" sz="1400" b="0" i="0" dirty="0">
                <a:solidFill>
                  <a:srgbClr val="333333"/>
                </a:solidFill>
              </a:rPr>
              <a:t>Pipelining, cache design and performance.</a:t>
            </a:r>
          </a:p>
        </p:txBody>
      </p:sp>
      <p:sp>
        <p:nvSpPr>
          <p:cNvPr id="408" name="Shape 408"/>
          <p:cNvSpPr/>
          <p:nvPr/>
        </p:nvSpPr>
        <p:spPr>
          <a:xfrm>
            <a:off x="6629400" y="2514600"/>
            <a:ext cx="2209800" cy="711200"/>
          </a:xfrm>
          <a:prstGeom prst="homePlate">
            <a:avLst/>
          </a:prstGeom>
          <a:solidFill>
            <a:srgbClr val="CF6DA4"/>
          </a:solidFill>
          <a:ln>
            <a:noFill/>
          </a:ln>
        </p:spPr>
        <p:txBody>
          <a:bodyPr wrap="square" lIns="198000" tIns="36000" rIns="216000" bIns="3600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Parallel &amp; AI</a:t>
            </a:r>
          </a:p>
        </p:txBody>
      </p:sp>
      <p:sp>
        <p:nvSpPr>
          <p:cNvPr id="409" name="Shape 409"/>
          <p:cNvSpPr/>
          <p:nvPr/>
        </p:nvSpPr>
        <p:spPr>
          <a:xfrm>
            <a:off x="6680200" y="3352800"/>
            <a:ext cx="187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216000" bIns="36000" anchor="t">
            <a:normAutofit/>
          </a:bodyPr>
          <a:lstStyle/>
          <a:p>
            <a:pPr algn="ctr">
              <a:buNone/>
            </a:pPr>
            <a:r>
              <a:rPr lang="en-US" sz="1400" b="0" i="0" dirty="0">
                <a:solidFill>
                  <a:srgbClr val="333333"/>
                </a:solidFill>
              </a:rPr>
              <a:t>GPUs, SIMD and memory-bound ML workloads.</a:t>
            </a:r>
          </a:p>
        </p:txBody>
      </p:sp>
      <p:sp>
        <p:nvSpPr>
          <p:cNvPr id="410" name="Shape 410"/>
          <p:cNvSpPr/>
          <p:nvPr/>
        </p:nvSpPr>
        <p:spPr>
          <a:xfrm>
            <a:off x="609600" y="4318000"/>
            <a:ext cx="7924800" cy="1320800"/>
          </a:xfrm>
          <a:prstGeom prst="roundRect">
            <a:avLst/>
          </a:prstGeom>
          <a:solidFill>
            <a:srgbClr val="B83D68"/>
          </a:solidFill>
          <a:ln>
            <a:noFill/>
          </a:ln>
        </p:spPr>
        <p:txBody>
          <a:bodyPr wrap="square" lIns="216000" tIns="36000" rIns="216000" bIns="36000" anchor="ctr">
            <a:normAutofit/>
          </a:bodyPr>
          <a:lstStyle/>
          <a:p>
            <a:pPr algn="ctr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“Master the machine underneath, and every language, framework and model you meet afterwards becomes a detail rather than a mystery.”</a:t>
            </a:r>
          </a:p>
        </p:txBody>
      </p:sp>
    </p:spTree>
    <p:extLst>
      <p:ext uri="{BB962C8B-B14F-4D97-AF65-F5344CB8AC3E}">
        <p14:creationId xmlns:p14="http://schemas.microsoft.com/office/powerpoint/2010/main" val="2438370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/>
        <a:effectLst>
          <a:glow rad="139700">
            <a:schemeClr val="accent2">
              <a:satMod val="175000"/>
              <a:alpha val="40000"/>
            </a:schemeClr>
          </a:glow>
          <a:outerShdw blurRad="63500" dist="38100" dir="5400000" rotWithShape="0">
            <a:srgbClr val="000000">
              <a:alpha val="45000"/>
            </a:srgbClr>
          </a:outerShdw>
        </a:effectLst>
      </a:spPr>
      <a:bodyPr rtlCol="0" anchor="ctr"/>
      <a:lstStyle>
        <a:defPPr algn="ctr">
          <a:defRPr dirty="0" smtClean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defRPr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4FA2D8-583D-4E2C-8F99-98B273376E1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5c120d9-9b1e-44b0-a5c6-e19f06165ca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21014</TotalTime>
  <Words>1783</Words>
  <Application>Microsoft Office PowerPoint</Application>
  <PresentationFormat>On-screen Show (4:3)</PresentationFormat>
  <Paragraphs>306</Paragraphs>
  <Slides>45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Cambria Math</vt:lpstr>
      <vt:lpstr>Verdana</vt:lpstr>
      <vt:lpstr>Wingdings</vt:lpstr>
      <vt:lpstr>Wingdings 2</vt:lpstr>
      <vt:lpstr>Wingdings 3</vt:lpstr>
      <vt:lpstr>Concourse</vt:lpstr>
      <vt:lpstr>EE-2003 Computer Organization and Assembly Language Fall 2026 </vt:lpstr>
      <vt:lpstr>Why This Course Matters</vt:lpstr>
      <vt:lpstr>Course Information</vt:lpstr>
      <vt:lpstr>PowerPoint Presentation</vt:lpstr>
      <vt:lpstr>PowerPoint Presentation</vt:lpstr>
      <vt:lpstr>PowerPoint Presentation</vt:lpstr>
      <vt:lpstr>Languages Generations!</vt:lpstr>
      <vt:lpstr>PowerPoint Presentation</vt:lpstr>
      <vt:lpstr>Lecture Overview</vt:lpstr>
      <vt:lpstr>Numbering &amp; Coding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Digital Primer</vt:lpstr>
      <vt:lpstr>SemiConductor Memory</vt:lpstr>
      <vt:lpstr>Important Terminologies !</vt:lpstr>
      <vt:lpstr>RAM &amp; ROM</vt:lpstr>
      <vt:lpstr>Organization of Computers</vt:lpstr>
      <vt:lpstr>Organization of Computers</vt:lpstr>
      <vt:lpstr>Internal Organization of Computers</vt:lpstr>
      <vt:lpstr>Address, Data &amp; Control Bus</vt:lpstr>
      <vt:lpstr>More about Data Bus..</vt:lpstr>
      <vt:lpstr>More about Address Bus</vt:lpstr>
      <vt:lpstr>Address Bus Width: 16 to 64 Bits</vt:lpstr>
      <vt:lpstr>CPU and Its relation to RAM &amp; ROM</vt:lpstr>
      <vt:lpstr>The Modern Memory Hierarchy</vt:lpstr>
      <vt:lpstr>Memory Capacity</vt:lpstr>
      <vt:lpstr>Memory Organization </vt:lpstr>
      <vt:lpstr>Examples.. Finding Capacity &amp; Organization of memory..</vt:lpstr>
      <vt:lpstr>Capacity &amp; Org. of Some UV-EPROM Chips…</vt:lpstr>
      <vt:lpstr>Inside CPU</vt:lpstr>
      <vt:lpstr>Example Internal Working of CPU</vt:lpstr>
      <vt:lpstr>Adding three numbers</vt:lpstr>
      <vt:lpstr>Adding three numbers</vt:lpstr>
      <vt:lpstr>Adding three numbers</vt:lpstr>
      <vt:lpstr>Adding three numbers</vt:lpstr>
      <vt:lpstr>Adding three numbers</vt:lpstr>
      <vt:lpstr>Von Neumann vs. Harvard Architecture</vt:lpstr>
      <vt:lpstr>..</vt:lpstr>
      <vt:lpstr>Harvard Architecture in Modern CPUs</vt:lpstr>
      <vt:lpstr>Modified Harvard: How Real CPUs Split Code and Data</vt:lpstr>
      <vt:lpstr>Where This Takes You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Interfacing &amp; Programming</dc:title>
  <dc:creator>admin</dc:creator>
  <cp:lastModifiedBy>Maqsood M Khan</cp:lastModifiedBy>
  <cp:revision>313</cp:revision>
  <dcterms:created xsi:type="dcterms:W3CDTF">2010-06-30T18:25:35Z</dcterms:created>
  <dcterms:modified xsi:type="dcterms:W3CDTF">2026-08-16T10:46:00Z</dcterms:modified>
</cp:coreProperties>
</file>